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332" r:id="rId4"/>
    <p:sldId id="333" r:id="rId5"/>
    <p:sldId id="280" r:id="rId6"/>
    <p:sldId id="334" r:id="rId7"/>
    <p:sldId id="271" r:id="rId8"/>
    <p:sldId id="285" r:id="rId9"/>
    <p:sldId id="303" r:id="rId10"/>
    <p:sldId id="321" r:id="rId11"/>
    <p:sldId id="331" r:id="rId12"/>
    <p:sldId id="327" r:id="rId13"/>
    <p:sldId id="328" r:id="rId14"/>
    <p:sldId id="329" r:id="rId15"/>
    <p:sldId id="295" r:id="rId16"/>
    <p:sldId id="264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3BCF0-EA9D-4EDA-AA2F-B79590822881}" v="129" dt="2025-11-26T04:55:22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92559" autoAdjust="0"/>
  </p:normalViewPr>
  <p:slideViewPr>
    <p:cSldViewPr showGuides="1">
      <p:cViewPr varScale="1">
        <p:scale>
          <a:sx n="94" d="100"/>
          <a:sy n="94" d="100"/>
        </p:scale>
        <p:origin x="422" y="82"/>
      </p:cViewPr>
      <p:guideLst>
        <p:guide orient="horz" pos="292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A9864-38E1-4409-A137-0677D32024B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90FC2-BF76-40DA-904A-D6F1B848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1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DC07-06EE-0696-11A4-CEFCDA8A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39A9B-0EAD-DECD-9FAB-8D5946C0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B2713-12C6-D002-1A2D-3660E40A8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E9210-8EF7-937F-7120-B1949802B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90FC2-BF76-40DA-904A-D6F1B8489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9428" y="637457"/>
            <a:ext cx="237314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302571"/>
            <a:ext cx="9037905" cy="1224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915" y="1507482"/>
            <a:ext cx="10191750" cy="283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1" y="2109469"/>
            <a:ext cx="11715748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LMS: AI-Enhanced Learning Management System</a:t>
            </a:r>
            <a:endParaRPr lang="en-US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4749" y="4813682"/>
            <a:ext cx="5791200" cy="194151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GIRIJESH R (2303811710421046)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GODFREY T R (2303811710421047)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GRISH NARAYANAN S(2303811710421048)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HARIHAR R (2303811710421051)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61BD9FE2-78F7-861B-CFC5-DB59CCB9AFDB}"/>
              </a:ext>
            </a:extLst>
          </p:cNvPr>
          <p:cNvSpPr txBox="1"/>
          <p:nvPr/>
        </p:nvSpPr>
        <p:spPr>
          <a:xfrm>
            <a:off x="146052" y="4813681"/>
            <a:ext cx="5791200" cy="1941511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US" alt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A. DHIVYA BHARATHI, M.E., (Ph.D.,)</a:t>
            </a:r>
            <a:endParaRPr lang="en-US" alt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F55BD0-822A-35F8-BB8D-511258793E1D}"/>
              </a:ext>
            </a:extLst>
          </p:cNvPr>
          <p:cNvSpPr txBox="1"/>
          <p:nvPr/>
        </p:nvSpPr>
        <p:spPr>
          <a:xfrm>
            <a:off x="0" y="224074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</a:t>
            </a:r>
            <a:r>
              <a:rPr lang="en-US" sz="3200" b="1" spc="-10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3200" b="1" spc="-1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200" b="1" spc="-10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sz="3200" b="1" spc="-25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(AUTONOMOUS), </a:t>
            </a:r>
            <a:r>
              <a:rPr lang="en-US" sz="32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TRICHY.</a:t>
            </a:r>
            <a:endParaRPr 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90EB66-2559-4095-133D-CC3AA79D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993C4F28-2320-2402-AE6F-9E65B0AB5F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A35F655-F2BC-9920-55E4-F930095D33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ECCC812-2C68-A3A9-9FBA-F259135354E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124" y="1905000"/>
            <a:ext cx="842010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LMS is an adaptive online learning platform.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overcomes static, one-size-fits-all learning methods.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Admins, Instructors, and Students.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AI-personalized content and TTS support.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generative AI and real-time features for better learning.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DE874-9AD8-DA29-AA54-244CD671BC7F}"/>
              </a:ext>
            </a:extLst>
          </p:cNvPr>
          <p:cNvSpPr txBox="1"/>
          <p:nvPr/>
        </p:nvSpPr>
        <p:spPr>
          <a:xfrm>
            <a:off x="0" y="38882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33964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F539DC-E63D-7B2E-18C4-C91FE641F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3B21B120-2837-3B6E-3A55-9CFB39D97A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CEFC5D40-8F6A-D9A0-BE63-1141E601A2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F178426-5990-26B7-C647-D98E1E56E9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124" y="1905000"/>
            <a:ext cx="9032876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LMS platforms mainly function as file repositories.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Instructors upload PDFs, PPTs, and videos for students to download.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remains linear with no adaptiveness or personalization.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study offline and return only for static quizzes.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 is minimal, and feedback is slow or manual.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B1299-1FA1-863D-340E-9159164624E6}"/>
              </a:ext>
            </a:extLst>
          </p:cNvPr>
          <p:cNvSpPr txBox="1"/>
          <p:nvPr/>
        </p:nvSpPr>
        <p:spPr>
          <a:xfrm>
            <a:off x="0" y="38882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54344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16775A-2D14-7A38-9465-13FE2AB4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C19905E1-7962-564D-9285-33D80D37EF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234EBF23-3331-60CB-6E6C-8E3B40AA8DC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BAAEE48-8228-770A-78F5-1477A83D70B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124" y="1905000"/>
            <a:ext cx="9032876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LMS introduces an AI-powered transformation layer.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dynamically generated using the Gemini API.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Quizzes adapt to the lesson content in real time.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instant interactive feedback.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 supports learning even without the server.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3185D9-9E07-D868-8787-96B849BBEF92}"/>
              </a:ext>
            </a:extLst>
          </p:cNvPr>
          <p:cNvSpPr txBox="1"/>
          <p:nvPr/>
        </p:nvSpPr>
        <p:spPr>
          <a:xfrm>
            <a:off x="0" y="38882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27166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678FF2-C625-2A93-6499-3D86D221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A77EB12D-2EF8-AEC6-73C5-52BC608142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3C19E08-3DA8-3D3D-14FD-7F0332CAA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1225" y="302571"/>
            <a:ext cx="903790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 </a:t>
            </a:r>
            <a:br>
              <a:rPr 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pc="-10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6E596C1E-3C64-A5A7-4C26-537F5FB029D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A5F2BF8-E925-F125-F7FB-21EDAB100B13}"/>
              </a:ext>
            </a:extLst>
          </p:cNvPr>
          <p:cNvSpPr txBox="1">
            <a:spLocks/>
          </p:cNvSpPr>
          <p:nvPr/>
        </p:nvSpPr>
        <p:spPr>
          <a:xfrm>
            <a:off x="4443729" y="647866"/>
            <a:ext cx="3176270" cy="55784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 panose="020F0502020204030204"/>
                <a:ea typeface="+mj-ea"/>
                <a:cs typeface="Calibri" panose="020F0502020204030204"/>
              </a:defRPr>
            </a:lvl1pPr>
          </a:lstStyle>
          <a:p>
            <a:pPr marL="12700" algn="ctr">
              <a:spcBef>
                <a:spcPts val="509"/>
              </a:spcBef>
              <a:tabLst>
                <a:tab pos="1821814" algn="l"/>
              </a:tabLst>
            </a:pPr>
            <a:r>
              <a:rPr lang="en-IN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A diagram of a computer">
            <a:extLst>
              <a:ext uri="{FF2B5EF4-FFF2-40B4-BE49-F238E27FC236}">
                <a16:creationId xmlns:a16="http://schemas.microsoft.com/office/drawing/2014/main" id="{00838C9C-2BF8-B761-40E0-C61C37E2D4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34084"/>
            <a:ext cx="11277599" cy="572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7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665CA3-7B92-472C-8453-C4EB6A31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>
            <a:extLst>
              <a:ext uri="{FF2B5EF4-FFF2-40B4-BE49-F238E27FC236}">
                <a16:creationId xmlns:a16="http://schemas.microsoft.com/office/drawing/2014/main" id="{9D54B903-23F6-C33D-3F25-C1CE6224E0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10949CB-0C22-91EA-4430-B282270880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19B06B9-54B8-D309-7AEC-78CA73EE31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4124" y="1351002"/>
            <a:ext cx="903287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Authentication &amp; User Management Module.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Course Management &amp; Delivery Module.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AI Adaptation &amp; Personalization Engine.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Intelligent Assessment &amp; Feedback Module.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Immersive Reader (Text-to-Speech) Module.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Real-time Communication &amp; Query Module.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rgbClr val="0D0D0D"/>
                </a:solidFill>
                <a:effectLst/>
                <a:latin typeface=" TIMES NEW ROMAN"/>
                <a:cs typeface="Times New Roman" panose="02020603050405020304" pitchFamily="18" charset="0"/>
              </a:rPr>
              <a:t>Admin Dashboard &amp; Analytics Module.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D2062-453C-D06F-E8D8-5261303B3791}"/>
              </a:ext>
            </a:extLst>
          </p:cNvPr>
          <p:cNvSpPr txBox="1"/>
          <p:nvPr/>
        </p:nvSpPr>
        <p:spPr>
          <a:xfrm>
            <a:off x="0" y="38882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68991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41FE93-2155-1BD4-112C-786F343F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589C54C-1F1E-FC42-5073-F95942670C3B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DE8C20-6825-7D10-9760-EC13B8F62218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A81540F-D227-4037-DDC6-C441960408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397A967-9ADD-A3EA-3126-D35F2D4CC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0338"/>
            <a:ext cx="12192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2105" marR="5080" indent="-1695450" algn="ctr">
              <a:spcBef>
                <a:spcPts val="100"/>
              </a:spcBef>
            </a:pPr>
            <a:r>
              <a:rPr lang="en-US" sz="3600" dirty="0">
                <a:solidFill>
                  <a:srgbClr val="FF0066"/>
                </a:solidFill>
                <a:latin typeface=" TIMES NEW ROMAN"/>
              </a:rPr>
              <a:t>USE CASE DIAGRAM</a:t>
            </a:r>
            <a:endParaRPr lang="en-IN" sz="3600" spc="-10" dirty="0">
              <a:solidFill>
                <a:srgbClr val="FF0066"/>
              </a:solidFill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54EBA683-4772-D49A-8ABE-7016E69C85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D02760-1983-5468-C8B9-531DE3D91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58" y="843916"/>
            <a:ext cx="4374653" cy="574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1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BD1639-B725-DA59-3ECA-BC12D5DC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578423-6AF2-981D-BEC0-898064D38F8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3D63AA3-94FB-C323-1687-F2EABC048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C0398A1-4284-4749-F2E8-C74E585CD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" y="219069"/>
            <a:ext cx="12191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rgbClr val="FF0066"/>
                </a:solidFill>
                <a:latin typeface=" TIMES NEW ROMAN"/>
              </a:rPr>
              <a:t>CLASS  DIAGRAM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ECB5D170-C0D3-E8BE-1262-731793F1542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878B5B-72C1-4DE4-1D39-C47E27EBD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788781"/>
            <a:ext cx="5029200" cy="57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6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1BC697-C2B6-CC0C-60C1-B8199A1F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D191359-C565-6BF6-93B1-B28ACB92326F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EFAE21-BEE9-BB9D-E363-327381E5C017}"/>
              </a:ext>
            </a:extLst>
          </p:cNvPr>
          <p:cNvSpPr txBox="1"/>
          <p:nvPr/>
        </p:nvSpPr>
        <p:spPr>
          <a:xfrm>
            <a:off x="7162800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B1D8B26-445A-0855-2D5D-C2893863D9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89708F53-07DB-832E-CBA4-7F96C7761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99022"/>
            <a:ext cx="12192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rgbClr val="FF0066"/>
                </a:solidFill>
                <a:latin typeface=" TIMES NEW ROMAN"/>
              </a:rPr>
              <a:t>ACTIVITY  DIAGRAM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D3300E57-3BE1-BFDF-AEE7-5CE18FB74A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8BB4FB-7D43-A7DA-F1DF-041293AB39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030286"/>
            <a:ext cx="3733800" cy="574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3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E0EF8E-C06B-CB99-D339-B66209D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6DC01D1-90B8-60E8-FDEB-E13CEB08F2A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C3F7A6-E42E-75FA-F783-332039F9FF77}"/>
              </a:ext>
            </a:extLst>
          </p:cNvPr>
          <p:cNvSpPr txBox="1"/>
          <p:nvPr/>
        </p:nvSpPr>
        <p:spPr>
          <a:xfrm>
            <a:off x="7162800" y="4953000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1A00F21-B44B-7F01-C37B-25AA9A3307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DC02A9E-B3FC-9940-A31F-EB64048C4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" y="302571"/>
            <a:ext cx="12192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rgbClr val="FF0066"/>
                </a:solidFill>
                <a:latin typeface=" TIMES NEW ROMAN"/>
              </a:rPr>
              <a:t>SEQUENCE  DIAGRAM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E29DDC9-BC7E-1A42-6CC6-670103F2DB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FA1C19-6B30-6591-6EC5-F0A629323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24" y="1037383"/>
            <a:ext cx="9612314" cy="57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71DA42-49FC-A945-5312-B8E9D6D6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426BFCF-AFE3-BC6C-0D2F-5F0149FA295C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4084D62-294A-8AD9-8639-94E1505A99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9A6EFAC1-81F1-30FA-FAB3-9C2A287E3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02571"/>
            <a:ext cx="121919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rgbClr val="FF0066"/>
                </a:solidFill>
                <a:latin typeface=" TIMES NEW ROMAN"/>
              </a:rPr>
              <a:t>STATE MACHINE DIAGRAM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7C99DF8-2C52-8DD2-B248-08D2BCE9B1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CC5E18-42E7-CAAD-7919-20F0D4FFB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07" y="807837"/>
            <a:ext cx="6861193" cy="592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3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AD5CEF-7D76-D03F-B61B-3F8D4937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523062C-6137-893F-706C-94FC9271324D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540DDCC-EA83-9EAD-4889-07ADA016E57A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043CCA0-462D-FB68-45D8-48F8F0FF51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D3CAB21-38A0-1982-34A5-D29F08E418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2C86A9-6B6A-94CA-06A6-EB8EAFB1A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842" y="887736"/>
            <a:ext cx="5163472" cy="59702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694E43-FDED-8E5C-6A72-56DD636924EA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52200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19BD36-DB24-514E-ED4D-BBBFC413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D8953F4-3D0F-ED4C-B0C0-05320324CEA3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077C30-EDFE-19AD-5240-7CCEDDEBC893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8BBE55A-0B3D-47CC-5AD3-21A8777434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F98B8813-16C4-A18F-2D18-F721D7E312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32981A-22D8-2510-3E5F-F8D51E9F0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03" y="939066"/>
            <a:ext cx="4800697" cy="5770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37CBCE-B874-9728-DF4D-4BEA6CEA8D43}"/>
              </a:ext>
            </a:extLst>
          </p:cNvPr>
          <p:cNvSpPr txBox="1"/>
          <p:nvPr/>
        </p:nvSpPr>
        <p:spPr>
          <a:xfrm>
            <a:off x="30480" y="1828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DIAGRAM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31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08F77E-1A0C-F760-77E9-A379F628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8C4A4D7-A7D7-D9E1-3B70-F5B47F04D376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3F6E913-FF2A-65F2-8E22-7EBB2B4C757B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729B26B-486F-CEC0-39BF-89BAC54FCD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49750892-F776-1012-5699-986D6E3A9B5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4B5541-B919-4B30-A158-C15939D84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72" y="1548738"/>
            <a:ext cx="12059853" cy="4928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0551D4-A8D0-6DF9-BD2A-D1BC23E6E3D1}"/>
              </a:ext>
            </a:extLst>
          </p:cNvPr>
          <p:cNvSpPr txBox="1"/>
          <p:nvPr/>
        </p:nvSpPr>
        <p:spPr>
          <a:xfrm>
            <a:off x="30480" y="2955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-10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 DIAGRAM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819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E01BAC-B0E6-8C1A-C23F-62ED1523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D0EAB3-0B72-1DBD-0B60-A543FDD75132}"/>
              </a:ext>
            </a:extLst>
          </p:cNvPr>
          <p:cNvSpPr txBox="1"/>
          <p:nvPr/>
        </p:nvSpPr>
        <p:spPr>
          <a:xfrm>
            <a:off x="911225" y="4870451"/>
            <a:ext cx="2444115" cy="9220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endParaRPr lang="en-US" altLang="en-US" sz="2400" spc="-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7CD7C2-4231-7D32-3281-CAB995F0D6F1}"/>
              </a:ext>
            </a:extLst>
          </p:cNvPr>
          <p:cNvSpPr txBox="1"/>
          <p:nvPr/>
        </p:nvSpPr>
        <p:spPr>
          <a:xfrm>
            <a:off x="7132638" y="4870451"/>
            <a:ext cx="3733800" cy="69977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en-US" sz="2400" spc="-25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9D1EF34-6A7B-DB47-DF7A-9B693531D5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325" y="73025"/>
            <a:ext cx="1066799" cy="1057274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2739DA52-D61F-09AB-A446-85691B7C23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438" y="160338"/>
            <a:ext cx="1154111" cy="1103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B70F49-0F26-DF68-E55E-BFDD5259A994}"/>
              </a:ext>
            </a:extLst>
          </p:cNvPr>
          <p:cNvSpPr txBox="1"/>
          <p:nvPr/>
        </p:nvSpPr>
        <p:spPr>
          <a:xfrm>
            <a:off x="1646238" y="1072078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 TIMES NEW ROMAN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CFEB1-736E-4E32-7B31-DFD7ACB31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4" y="1733066"/>
            <a:ext cx="1066800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 TIMES NEW ROMAN"/>
              </a:rPr>
              <a:t>	Smart LMS proves that Generative AI can deliver scalable, personalized learning by adapting content, generating intelligent assessments, and enhancing engagement.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 TIMES NEW ROMAN"/>
              </a:rPr>
              <a:t>	Built on the MERN stack with Gemini integration, it overcomes the limitations of traditional LMS platforms and provides a modern, efficient, and adaptive learning experience.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 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B9BEF-DFED-2A05-45A1-DF871ABB6B5D}"/>
              </a:ext>
            </a:extLst>
          </p:cNvPr>
          <p:cNvSpPr txBox="1"/>
          <p:nvPr/>
        </p:nvSpPr>
        <p:spPr>
          <a:xfrm>
            <a:off x="0" y="25827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45288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584" y="3081020"/>
            <a:ext cx="541083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THANK</a:t>
            </a:r>
            <a:r>
              <a:rPr sz="4400" spc="-130" dirty="0"/>
              <a:t> </a:t>
            </a:r>
            <a:r>
              <a:rPr sz="4400" dirty="0"/>
              <a:t>YOU</a:t>
            </a:r>
            <a:r>
              <a:rPr sz="4400" spc="-130" dirty="0"/>
              <a:t> </a:t>
            </a:r>
            <a:r>
              <a:rPr sz="4400" spc="-20" dirty="0"/>
              <a:t>!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339</Words>
  <Application>Microsoft Office PowerPoint</Application>
  <PresentationFormat>Widescreen</PresentationFormat>
  <Paragraphs>51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 TIMES NEW ROMAN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PROPOSED SYSTEM   </vt:lpstr>
      <vt:lpstr>PowerPoint Presentation</vt:lpstr>
      <vt:lpstr>USE CASE DIAGRAM</vt:lpstr>
      <vt:lpstr>CLASS  DIAGRAM</vt:lpstr>
      <vt:lpstr>ACTIVITY  DIAGRAM</vt:lpstr>
      <vt:lpstr>SEQUENCE  DIAGRAM</vt:lpstr>
      <vt:lpstr>STATE MACHINE DIAGRAM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TRICHY.</dc:title>
  <dc:creator>bhavadharani appavu</dc:creator>
  <cp:lastModifiedBy>GODFREY T R</cp:lastModifiedBy>
  <cp:revision>17</cp:revision>
  <dcterms:created xsi:type="dcterms:W3CDTF">2025-03-02T08:49:00Z</dcterms:created>
  <dcterms:modified xsi:type="dcterms:W3CDTF">2025-12-10T18:00:19Z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2025-03-02T11:00:00Z</vt:filetime>
  </property>
  <property fmtid="{D5CDD505-2E9C-101B-9397-08002B2CF9AE}" pid="3" name="Creator">
    <vt:lpwstr>Google</vt:lpwstr>
  </property>
  <property fmtid="{D5CDD505-2E9C-101B-9397-08002B2CF9AE}" pid="4" name="LastSaved">
    <vt:filetime>2025-03-02T11:00:00Z</vt:filetime>
  </property>
  <property fmtid="{D5CDD505-2E9C-101B-9397-08002B2CF9AE}" pid="5" name="ICV">
    <vt:lpwstr>F1144ED021524376B4DEB1A8628C065D_13</vt:lpwstr>
  </property>
  <property fmtid="{D5CDD505-2E9C-101B-9397-08002B2CF9AE}" pid="6" name="KSOProductBuildVer">
    <vt:lpwstr>1033-12.2.0.20323</vt:lpwstr>
  </property>
</Properties>
</file>